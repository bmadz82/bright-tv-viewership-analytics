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83" r:id="rId4"/>
  </p:sldMasterIdLst>
  <p:notesMasterIdLst>
    <p:notesMasterId r:id="rId13"/>
  </p:notesMasterIdLst>
  <p:handoutMasterIdLst>
    <p:handoutMasterId r:id="rId14"/>
  </p:handoutMasterIdLst>
  <p:sldIdLst>
    <p:sldId id="564" r:id="rId5"/>
    <p:sldId id="256" r:id="rId6"/>
    <p:sldId id="547" r:id="rId7"/>
    <p:sldId id="560" r:id="rId8"/>
    <p:sldId id="566" r:id="rId9"/>
    <p:sldId id="562" r:id="rId10"/>
    <p:sldId id="565" r:id="rId11"/>
    <p:sldId id="54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60" autoAdjust="0"/>
  </p:normalViewPr>
  <p:slideViewPr>
    <p:cSldViewPr snapToGrid="0">
      <p:cViewPr varScale="1">
        <p:scale>
          <a:sx n="100" d="100"/>
          <a:sy n="100" d="100"/>
        </p:scale>
        <p:origin x="96" y="162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1C9B0E-882C-430D-B983-440AE69AF1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813E2F-ADB1-41CC-BB33-47CED51E160B}">
      <dgm:prSet/>
      <dgm:spPr/>
      <dgm:t>
        <a:bodyPr/>
        <a:lstStyle/>
        <a:p>
          <a:r>
            <a:rPr lang="en-US"/>
            <a:t>Market Alignment: Highlight that the content is resonating most strongly with the Black demographic. This is a key insight for advertisers or sponsors looking to reach this specific market.</a:t>
          </a:r>
        </a:p>
      </dgm:t>
    </dgm:pt>
    <dgm:pt modelId="{603ED1A4-7CE4-4632-98AC-05B09EB1B2CE}" type="parTrans" cxnId="{F09E002B-634B-424C-A1BC-571A656C81F8}">
      <dgm:prSet/>
      <dgm:spPr/>
      <dgm:t>
        <a:bodyPr/>
        <a:lstStyle/>
        <a:p>
          <a:endParaRPr lang="en-US"/>
        </a:p>
      </dgm:t>
    </dgm:pt>
    <dgm:pt modelId="{155048DC-32F2-44E1-813D-4DEDB42F9ABE}" type="sibTrans" cxnId="{F09E002B-634B-424C-A1BC-571A656C81F8}">
      <dgm:prSet/>
      <dgm:spPr/>
      <dgm:t>
        <a:bodyPr/>
        <a:lstStyle/>
        <a:p>
          <a:endParaRPr lang="en-US"/>
        </a:p>
      </dgm:t>
    </dgm:pt>
    <dgm:pt modelId="{C033EB37-3FE4-4B7E-8F26-0B1257DA00C0}">
      <dgm:prSet/>
      <dgm:spPr/>
      <dgm:t>
        <a:bodyPr/>
        <a:lstStyle/>
        <a:p>
          <a:r>
            <a:rPr lang="en-US"/>
            <a:t>Relative Balance: Note that the Coloured, Indian/Asian, and White segments are relatively balanced (ranging between 12%–16%), showing the content has a broad, multi-cultural appeal.</a:t>
          </a:r>
        </a:p>
      </dgm:t>
    </dgm:pt>
    <dgm:pt modelId="{E0418880-1C8B-4DCB-9923-CE9EDF66FCDE}" type="parTrans" cxnId="{8F64C2A0-9C85-4700-AC63-76039F74036F}">
      <dgm:prSet/>
      <dgm:spPr/>
      <dgm:t>
        <a:bodyPr/>
        <a:lstStyle/>
        <a:p>
          <a:endParaRPr lang="en-US"/>
        </a:p>
      </dgm:t>
    </dgm:pt>
    <dgm:pt modelId="{DA0C924B-CA0A-41D7-B7FD-96AEA4A5AE16}" type="sibTrans" cxnId="{8F64C2A0-9C85-4700-AC63-76039F74036F}">
      <dgm:prSet/>
      <dgm:spPr/>
      <dgm:t>
        <a:bodyPr/>
        <a:lstStyle/>
        <a:p>
          <a:endParaRPr lang="en-US"/>
        </a:p>
      </dgm:t>
    </dgm:pt>
    <dgm:pt modelId="{C2521A1A-5865-47C5-83FB-191F156E59BA}">
      <dgm:prSet/>
      <dgm:spPr/>
      <dgm:t>
        <a:bodyPr/>
        <a:lstStyle/>
        <a:p>
          <a:r>
            <a:rPr lang="en-US"/>
            <a:t>Actionable Insight: If the goal is growth, you might discuss whether to lean further into the majority audience's preferences or create targeted campaigns to increase the share of the 12%–16% segments..</a:t>
          </a:r>
        </a:p>
      </dgm:t>
    </dgm:pt>
    <dgm:pt modelId="{986F304F-48FE-48E0-A1CB-6E9F1B2CD4EC}" type="parTrans" cxnId="{E917D767-BE3C-4B0B-9640-26B8B29EBCB9}">
      <dgm:prSet/>
      <dgm:spPr/>
      <dgm:t>
        <a:bodyPr/>
        <a:lstStyle/>
        <a:p>
          <a:endParaRPr lang="en-US"/>
        </a:p>
      </dgm:t>
    </dgm:pt>
    <dgm:pt modelId="{64A5B33E-67AB-4BA6-AD48-041726FD5A26}" type="sibTrans" cxnId="{E917D767-BE3C-4B0B-9640-26B8B29EBCB9}">
      <dgm:prSet/>
      <dgm:spPr/>
      <dgm:t>
        <a:bodyPr/>
        <a:lstStyle/>
        <a:p>
          <a:endParaRPr lang="en-US"/>
        </a:p>
      </dgm:t>
    </dgm:pt>
    <dgm:pt modelId="{8DD5A0B0-A570-41B9-B228-D035BBFA672D}" type="pres">
      <dgm:prSet presAssocID="{B21C9B0E-882C-430D-B983-440AE69AF1BF}" presName="linear" presStyleCnt="0">
        <dgm:presLayoutVars>
          <dgm:animLvl val="lvl"/>
          <dgm:resizeHandles val="exact"/>
        </dgm:presLayoutVars>
      </dgm:prSet>
      <dgm:spPr/>
    </dgm:pt>
    <dgm:pt modelId="{E9BED0E5-A4EA-4F71-855F-132862C612C5}" type="pres">
      <dgm:prSet presAssocID="{DF813E2F-ADB1-41CC-BB33-47CED51E16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0101D3-DE29-4824-84DF-D30ED1CC1F1E}" type="pres">
      <dgm:prSet presAssocID="{155048DC-32F2-44E1-813D-4DEDB42F9ABE}" presName="spacer" presStyleCnt="0"/>
      <dgm:spPr/>
    </dgm:pt>
    <dgm:pt modelId="{82037F8C-BC58-4E0D-81E6-58EDAB7D373D}" type="pres">
      <dgm:prSet presAssocID="{C033EB37-3FE4-4B7E-8F26-0B1257DA00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2A9E43-17FF-439C-9887-DC1744781B0D}" type="pres">
      <dgm:prSet presAssocID="{DA0C924B-CA0A-41D7-B7FD-96AEA4A5AE16}" presName="spacer" presStyleCnt="0"/>
      <dgm:spPr/>
    </dgm:pt>
    <dgm:pt modelId="{ED7718D0-A86B-423A-93E0-7165FDBF5EF3}" type="pres">
      <dgm:prSet presAssocID="{C2521A1A-5865-47C5-83FB-191F156E59B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DA2717-7F04-430A-83D4-E2A8887381E2}" type="presOf" srcId="{C2521A1A-5865-47C5-83FB-191F156E59BA}" destId="{ED7718D0-A86B-423A-93E0-7165FDBF5EF3}" srcOrd="0" destOrd="0" presId="urn:microsoft.com/office/officeart/2005/8/layout/vList2"/>
    <dgm:cxn modelId="{F09E002B-634B-424C-A1BC-571A656C81F8}" srcId="{B21C9B0E-882C-430D-B983-440AE69AF1BF}" destId="{DF813E2F-ADB1-41CC-BB33-47CED51E160B}" srcOrd="0" destOrd="0" parTransId="{603ED1A4-7CE4-4632-98AC-05B09EB1B2CE}" sibTransId="{155048DC-32F2-44E1-813D-4DEDB42F9ABE}"/>
    <dgm:cxn modelId="{E917D767-BE3C-4B0B-9640-26B8B29EBCB9}" srcId="{B21C9B0E-882C-430D-B983-440AE69AF1BF}" destId="{C2521A1A-5865-47C5-83FB-191F156E59BA}" srcOrd="2" destOrd="0" parTransId="{986F304F-48FE-48E0-A1CB-6E9F1B2CD4EC}" sibTransId="{64A5B33E-67AB-4BA6-AD48-041726FD5A26}"/>
    <dgm:cxn modelId="{6D4AD08A-3BC0-4FE7-9644-796E09AADD83}" type="presOf" srcId="{B21C9B0E-882C-430D-B983-440AE69AF1BF}" destId="{8DD5A0B0-A570-41B9-B228-D035BBFA672D}" srcOrd="0" destOrd="0" presId="urn:microsoft.com/office/officeart/2005/8/layout/vList2"/>
    <dgm:cxn modelId="{8F64C2A0-9C85-4700-AC63-76039F74036F}" srcId="{B21C9B0E-882C-430D-B983-440AE69AF1BF}" destId="{C033EB37-3FE4-4B7E-8F26-0B1257DA00C0}" srcOrd="1" destOrd="0" parTransId="{E0418880-1C8B-4DCB-9923-CE9EDF66FCDE}" sibTransId="{DA0C924B-CA0A-41D7-B7FD-96AEA4A5AE16}"/>
    <dgm:cxn modelId="{C5495BD3-1058-4A67-A999-8954E81F9582}" type="presOf" srcId="{C033EB37-3FE4-4B7E-8F26-0B1257DA00C0}" destId="{82037F8C-BC58-4E0D-81E6-58EDAB7D373D}" srcOrd="0" destOrd="0" presId="urn:microsoft.com/office/officeart/2005/8/layout/vList2"/>
    <dgm:cxn modelId="{C0E691EF-C0F0-4170-9F6F-DF0024DB795B}" type="presOf" srcId="{DF813E2F-ADB1-41CC-BB33-47CED51E160B}" destId="{E9BED0E5-A4EA-4F71-855F-132862C612C5}" srcOrd="0" destOrd="0" presId="urn:microsoft.com/office/officeart/2005/8/layout/vList2"/>
    <dgm:cxn modelId="{32738471-4AA9-41C5-99B8-E942829C7C66}" type="presParOf" srcId="{8DD5A0B0-A570-41B9-B228-D035BBFA672D}" destId="{E9BED0E5-A4EA-4F71-855F-132862C612C5}" srcOrd="0" destOrd="0" presId="urn:microsoft.com/office/officeart/2005/8/layout/vList2"/>
    <dgm:cxn modelId="{89BDBC06-A9A8-47AE-BA68-7DE1C11BD28F}" type="presParOf" srcId="{8DD5A0B0-A570-41B9-B228-D035BBFA672D}" destId="{8E0101D3-DE29-4824-84DF-D30ED1CC1F1E}" srcOrd="1" destOrd="0" presId="urn:microsoft.com/office/officeart/2005/8/layout/vList2"/>
    <dgm:cxn modelId="{6CE81D7E-491E-4D8B-AB4E-E50A1129B7A6}" type="presParOf" srcId="{8DD5A0B0-A570-41B9-B228-D035BBFA672D}" destId="{82037F8C-BC58-4E0D-81E6-58EDAB7D373D}" srcOrd="2" destOrd="0" presId="urn:microsoft.com/office/officeart/2005/8/layout/vList2"/>
    <dgm:cxn modelId="{C63BDAA5-4D8F-47A5-A208-89E8E6D3CD18}" type="presParOf" srcId="{8DD5A0B0-A570-41B9-B228-D035BBFA672D}" destId="{0C2A9E43-17FF-439C-9887-DC1744781B0D}" srcOrd="3" destOrd="0" presId="urn:microsoft.com/office/officeart/2005/8/layout/vList2"/>
    <dgm:cxn modelId="{F9F881F8-153B-4F6E-9B7A-37C6A943AA46}" type="presParOf" srcId="{8DD5A0B0-A570-41B9-B228-D035BBFA672D}" destId="{ED7718D0-A86B-423A-93E0-7165FDBF5EF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860610-F1AE-4FB0-95FE-6E2995E534F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3B8C92-0A85-4DC4-82DB-A01E9E2D32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 Viewing: Usage climbs steadily from 07:00 and plateaus between 12:00 and 20:00, with the absolute peak occurring at 17:00 (648 views)</a:t>
          </a:r>
        </a:p>
      </dgm:t>
    </dgm:pt>
    <dgm:pt modelId="{03CB2066-B872-4193-8AFA-67CD2EB7F07A}" type="parTrans" cxnId="{53CD09FA-6080-427A-9A2A-87571A951188}">
      <dgm:prSet/>
      <dgm:spPr/>
      <dgm:t>
        <a:bodyPr/>
        <a:lstStyle/>
        <a:p>
          <a:endParaRPr lang="en-US"/>
        </a:p>
      </dgm:t>
    </dgm:pt>
    <dgm:pt modelId="{07D8E379-2964-450C-87E6-D7DBA2F8E188}" type="sibTrans" cxnId="{53CD09FA-6080-427A-9A2A-87571A951188}">
      <dgm:prSet/>
      <dgm:spPr/>
      <dgm:t>
        <a:bodyPr/>
        <a:lstStyle/>
        <a:p>
          <a:endParaRPr lang="en-US"/>
        </a:p>
      </dgm:t>
    </dgm:pt>
    <dgm:pt modelId="{10C2C626-8231-4618-B049-38D76D6A70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"Dead Zone": Consumption is lowest between 02:00 and 05:00 AM (hitting a low of 49 views at 04:00).</a:t>
          </a:r>
        </a:p>
      </dgm:t>
    </dgm:pt>
    <dgm:pt modelId="{E75C5BD1-7B43-45D3-87A9-3BB545F40DE8}" type="parTrans" cxnId="{4B60299C-22A2-4D66-AA86-C22B1D95AECC}">
      <dgm:prSet/>
      <dgm:spPr/>
      <dgm:t>
        <a:bodyPr/>
        <a:lstStyle/>
        <a:p>
          <a:endParaRPr lang="en-US"/>
        </a:p>
      </dgm:t>
    </dgm:pt>
    <dgm:pt modelId="{A11E9EDC-111D-4F23-AA7E-263BBC74C8D2}" type="sibTrans" cxnId="{4B60299C-22A2-4D66-AA86-C22B1D95AECC}">
      <dgm:prSet/>
      <dgm:spPr/>
      <dgm:t>
        <a:bodyPr/>
        <a:lstStyle/>
        <a:p>
          <a:endParaRPr lang="en-US"/>
        </a:p>
      </dgm:t>
    </dgm:pt>
    <dgm:pt modelId="{CC75940F-5ACB-4FEA-B61C-99A93BD53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Prime Buckets: Afternoon is the most active time bucket (3,734 views), followed by Evening.</a:t>
          </a:r>
        </a:p>
      </dgm:t>
    </dgm:pt>
    <dgm:pt modelId="{DDA477A1-5FDC-4B8D-80C5-2E617EF1805A}" type="parTrans" cxnId="{CBEC6663-847C-4392-8B41-152F86B00DC8}">
      <dgm:prSet/>
      <dgm:spPr/>
      <dgm:t>
        <a:bodyPr/>
        <a:lstStyle/>
        <a:p>
          <a:endParaRPr lang="en-US"/>
        </a:p>
      </dgm:t>
    </dgm:pt>
    <dgm:pt modelId="{6FFB0422-3FD5-4853-8FE8-6EB5DAA5ABA5}" type="sibTrans" cxnId="{CBEC6663-847C-4392-8B41-152F86B00DC8}">
      <dgm:prSet/>
      <dgm:spPr/>
      <dgm:t>
        <a:bodyPr/>
        <a:lstStyle/>
        <a:p>
          <a:endParaRPr lang="en-US"/>
        </a:p>
      </dgm:t>
    </dgm:pt>
    <dgm:pt modelId="{FD24D5A5-634B-4B23-9A7B-4D99628CBCE0}" type="pres">
      <dgm:prSet presAssocID="{D8860610-F1AE-4FB0-95FE-6E2995E534F1}" presName="root" presStyleCnt="0">
        <dgm:presLayoutVars>
          <dgm:dir/>
          <dgm:resizeHandles val="exact"/>
        </dgm:presLayoutVars>
      </dgm:prSet>
      <dgm:spPr/>
    </dgm:pt>
    <dgm:pt modelId="{243380B2-058D-4B28-B632-5AF5227B1C68}" type="pres">
      <dgm:prSet presAssocID="{B23B8C92-0A85-4DC4-82DB-A01E9E2D32F9}" presName="compNode" presStyleCnt="0"/>
      <dgm:spPr/>
    </dgm:pt>
    <dgm:pt modelId="{3313126A-A7B8-424F-A7B3-60B8A2D0AD72}" type="pres">
      <dgm:prSet presAssocID="{B23B8C92-0A85-4DC4-82DB-A01E9E2D32F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mbing"/>
        </a:ext>
      </dgm:extLst>
    </dgm:pt>
    <dgm:pt modelId="{B8DBFFBF-84FD-4B41-985F-D7A7B5FFDD5C}" type="pres">
      <dgm:prSet presAssocID="{B23B8C92-0A85-4DC4-82DB-A01E9E2D32F9}" presName="spaceRect" presStyleCnt="0"/>
      <dgm:spPr/>
    </dgm:pt>
    <dgm:pt modelId="{C10B392A-C238-466A-8583-AB04E10DDD05}" type="pres">
      <dgm:prSet presAssocID="{B23B8C92-0A85-4DC4-82DB-A01E9E2D32F9}" presName="textRect" presStyleLbl="revTx" presStyleIdx="0" presStyleCnt="3">
        <dgm:presLayoutVars>
          <dgm:chMax val="1"/>
          <dgm:chPref val="1"/>
        </dgm:presLayoutVars>
      </dgm:prSet>
      <dgm:spPr/>
    </dgm:pt>
    <dgm:pt modelId="{A8DF60AF-88AE-4FE7-B388-CA8154EEC41F}" type="pres">
      <dgm:prSet presAssocID="{07D8E379-2964-450C-87E6-D7DBA2F8E188}" presName="sibTrans" presStyleCnt="0"/>
      <dgm:spPr/>
    </dgm:pt>
    <dgm:pt modelId="{536E7D9C-77CD-46B4-A765-4B76CDC67ACD}" type="pres">
      <dgm:prSet presAssocID="{10C2C626-8231-4618-B049-38D76D6A706F}" presName="compNode" presStyleCnt="0"/>
      <dgm:spPr/>
    </dgm:pt>
    <dgm:pt modelId="{DBCE4E1C-3377-456F-A2B7-FD0477AE817D}" type="pres">
      <dgm:prSet presAssocID="{10C2C626-8231-4618-B049-38D76D6A706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23498E01-C38D-4906-A15D-E79D32FFDC18}" type="pres">
      <dgm:prSet presAssocID="{10C2C626-8231-4618-B049-38D76D6A706F}" presName="spaceRect" presStyleCnt="0"/>
      <dgm:spPr/>
    </dgm:pt>
    <dgm:pt modelId="{0C7EDEA9-775A-4E06-BA88-012C51C443DB}" type="pres">
      <dgm:prSet presAssocID="{10C2C626-8231-4618-B049-38D76D6A706F}" presName="textRect" presStyleLbl="revTx" presStyleIdx="1" presStyleCnt="3">
        <dgm:presLayoutVars>
          <dgm:chMax val="1"/>
          <dgm:chPref val="1"/>
        </dgm:presLayoutVars>
      </dgm:prSet>
      <dgm:spPr/>
    </dgm:pt>
    <dgm:pt modelId="{8D0C9608-7593-4270-A379-2DE3C44A53D3}" type="pres">
      <dgm:prSet presAssocID="{A11E9EDC-111D-4F23-AA7E-263BBC74C8D2}" presName="sibTrans" presStyleCnt="0"/>
      <dgm:spPr/>
    </dgm:pt>
    <dgm:pt modelId="{0D945371-60BD-4F8E-9967-3B56BE3307E8}" type="pres">
      <dgm:prSet presAssocID="{CC75940F-5ACB-4FEA-B61C-99A93BD532F4}" presName="compNode" presStyleCnt="0"/>
      <dgm:spPr/>
    </dgm:pt>
    <dgm:pt modelId="{D90FE1BD-D5E0-4D8F-A426-D4BF482B2578}" type="pres">
      <dgm:prSet presAssocID="{CC75940F-5ACB-4FEA-B61C-99A93BD532F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1221E9A-5E5B-487A-9584-C1805CC516AE}" type="pres">
      <dgm:prSet presAssocID="{CC75940F-5ACB-4FEA-B61C-99A93BD532F4}" presName="spaceRect" presStyleCnt="0"/>
      <dgm:spPr/>
    </dgm:pt>
    <dgm:pt modelId="{8BAA2519-E73D-4A4E-9BFD-60028BC9AD77}" type="pres">
      <dgm:prSet presAssocID="{CC75940F-5ACB-4FEA-B61C-99A93BD532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3B7931-8713-44CD-8DC3-09E6B4865008}" type="presOf" srcId="{D8860610-F1AE-4FB0-95FE-6E2995E534F1}" destId="{FD24D5A5-634B-4B23-9A7B-4D99628CBCE0}" srcOrd="0" destOrd="0" presId="urn:microsoft.com/office/officeart/2018/2/layout/IconLabelList"/>
    <dgm:cxn modelId="{B86EFD41-99FE-4347-915B-1CA63FC7160D}" type="presOf" srcId="{B23B8C92-0A85-4DC4-82DB-A01E9E2D32F9}" destId="{C10B392A-C238-466A-8583-AB04E10DDD05}" srcOrd="0" destOrd="0" presId="urn:microsoft.com/office/officeart/2018/2/layout/IconLabelList"/>
    <dgm:cxn modelId="{CBEC6663-847C-4392-8B41-152F86B00DC8}" srcId="{D8860610-F1AE-4FB0-95FE-6E2995E534F1}" destId="{CC75940F-5ACB-4FEA-B61C-99A93BD532F4}" srcOrd="2" destOrd="0" parTransId="{DDA477A1-5FDC-4B8D-80C5-2E617EF1805A}" sibTransId="{6FFB0422-3FD5-4853-8FE8-6EB5DAA5ABA5}"/>
    <dgm:cxn modelId="{6C2C419B-D277-4FB9-A5C7-79F76D80DFFF}" type="presOf" srcId="{10C2C626-8231-4618-B049-38D76D6A706F}" destId="{0C7EDEA9-775A-4E06-BA88-012C51C443DB}" srcOrd="0" destOrd="0" presId="urn:microsoft.com/office/officeart/2018/2/layout/IconLabelList"/>
    <dgm:cxn modelId="{4B60299C-22A2-4D66-AA86-C22B1D95AECC}" srcId="{D8860610-F1AE-4FB0-95FE-6E2995E534F1}" destId="{10C2C626-8231-4618-B049-38D76D6A706F}" srcOrd="1" destOrd="0" parTransId="{E75C5BD1-7B43-45D3-87A9-3BB545F40DE8}" sibTransId="{A11E9EDC-111D-4F23-AA7E-263BBC74C8D2}"/>
    <dgm:cxn modelId="{A39D61BC-B69E-47B0-A16B-631F7E6038B5}" type="presOf" srcId="{CC75940F-5ACB-4FEA-B61C-99A93BD532F4}" destId="{8BAA2519-E73D-4A4E-9BFD-60028BC9AD77}" srcOrd="0" destOrd="0" presId="urn:microsoft.com/office/officeart/2018/2/layout/IconLabelList"/>
    <dgm:cxn modelId="{53CD09FA-6080-427A-9A2A-87571A951188}" srcId="{D8860610-F1AE-4FB0-95FE-6E2995E534F1}" destId="{B23B8C92-0A85-4DC4-82DB-A01E9E2D32F9}" srcOrd="0" destOrd="0" parTransId="{03CB2066-B872-4193-8AFA-67CD2EB7F07A}" sibTransId="{07D8E379-2964-450C-87E6-D7DBA2F8E188}"/>
    <dgm:cxn modelId="{3DE189F8-7ADF-410A-8816-3E0992C3DFA7}" type="presParOf" srcId="{FD24D5A5-634B-4B23-9A7B-4D99628CBCE0}" destId="{243380B2-058D-4B28-B632-5AF5227B1C68}" srcOrd="0" destOrd="0" presId="urn:microsoft.com/office/officeart/2018/2/layout/IconLabelList"/>
    <dgm:cxn modelId="{B218A8AD-A027-49FF-B5EC-02BF3A202CAB}" type="presParOf" srcId="{243380B2-058D-4B28-B632-5AF5227B1C68}" destId="{3313126A-A7B8-424F-A7B3-60B8A2D0AD72}" srcOrd="0" destOrd="0" presId="urn:microsoft.com/office/officeart/2018/2/layout/IconLabelList"/>
    <dgm:cxn modelId="{077CBC8B-0261-460F-809D-83BF3292AD6A}" type="presParOf" srcId="{243380B2-058D-4B28-B632-5AF5227B1C68}" destId="{B8DBFFBF-84FD-4B41-985F-D7A7B5FFDD5C}" srcOrd="1" destOrd="0" presId="urn:microsoft.com/office/officeart/2018/2/layout/IconLabelList"/>
    <dgm:cxn modelId="{A808E3D5-FABA-4E94-B29C-31780B832FE5}" type="presParOf" srcId="{243380B2-058D-4B28-B632-5AF5227B1C68}" destId="{C10B392A-C238-466A-8583-AB04E10DDD05}" srcOrd="2" destOrd="0" presId="urn:microsoft.com/office/officeart/2018/2/layout/IconLabelList"/>
    <dgm:cxn modelId="{793F58B6-5769-49FD-ABFE-4ED23F9AC09F}" type="presParOf" srcId="{FD24D5A5-634B-4B23-9A7B-4D99628CBCE0}" destId="{A8DF60AF-88AE-4FE7-B388-CA8154EEC41F}" srcOrd="1" destOrd="0" presId="urn:microsoft.com/office/officeart/2018/2/layout/IconLabelList"/>
    <dgm:cxn modelId="{6F918624-2663-42FC-B411-0A4F4A636168}" type="presParOf" srcId="{FD24D5A5-634B-4B23-9A7B-4D99628CBCE0}" destId="{536E7D9C-77CD-46B4-A765-4B76CDC67ACD}" srcOrd="2" destOrd="0" presId="urn:microsoft.com/office/officeart/2018/2/layout/IconLabelList"/>
    <dgm:cxn modelId="{24EB0D37-288F-49B6-BFAC-840A0D7C1F8D}" type="presParOf" srcId="{536E7D9C-77CD-46B4-A765-4B76CDC67ACD}" destId="{DBCE4E1C-3377-456F-A2B7-FD0477AE817D}" srcOrd="0" destOrd="0" presId="urn:microsoft.com/office/officeart/2018/2/layout/IconLabelList"/>
    <dgm:cxn modelId="{D79F1F7A-0FAB-4123-BE6D-274BDBD026F2}" type="presParOf" srcId="{536E7D9C-77CD-46B4-A765-4B76CDC67ACD}" destId="{23498E01-C38D-4906-A15D-E79D32FFDC18}" srcOrd="1" destOrd="0" presId="urn:microsoft.com/office/officeart/2018/2/layout/IconLabelList"/>
    <dgm:cxn modelId="{15FBF2B6-9F73-4BDF-B54A-4D68EE629539}" type="presParOf" srcId="{536E7D9C-77CD-46B4-A765-4B76CDC67ACD}" destId="{0C7EDEA9-775A-4E06-BA88-012C51C443DB}" srcOrd="2" destOrd="0" presId="urn:microsoft.com/office/officeart/2018/2/layout/IconLabelList"/>
    <dgm:cxn modelId="{7E0F2C4B-ACB8-455F-AC7A-10226D92D8CF}" type="presParOf" srcId="{FD24D5A5-634B-4B23-9A7B-4D99628CBCE0}" destId="{8D0C9608-7593-4270-A379-2DE3C44A53D3}" srcOrd="3" destOrd="0" presId="urn:microsoft.com/office/officeart/2018/2/layout/IconLabelList"/>
    <dgm:cxn modelId="{61CC26D2-3594-4A43-9CEA-3CB129E622CE}" type="presParOf" srcId="{FD24D5A5-634B-4B23-9A7B-4D99628CBCE0}" destId="{0D945371-60BD-4F8E-9967-3B56BE3307E8}" srcOrd="4" destOrd="0" presId="urn:microsoft.com/office/officeart/2018/2/layout/IconLabelList"/>
    <dgm:cxn modelId="{2DF74980-428E-495F-8FC5-8DE8119DACA8}" type="presParOf" srcId="{0D945371-60BD-4F8E-9967-3B56BE3307E8}" destId="{D90FE1BD-D5E0-4D8F-A426-D4BF482B2578}" srcOrd="0" destOrd="0" presId="urn:microsoft.com/office/officeart/2018/2/layout/IconLabelList"/>
    <dgm:cxn modelId="{1E127B08-88D7-4147-9175-8E0AFBC05A5D}" type="presParOf" srcId="{0D945371-60BD-4F8E-9967-3B56BE3307E8}" destId="{41221E9A-5E5B-487A-9584-C1805CC516AE}" srcOrd="1" destOrd="0" presId="urn:microsoft.com/office/officeart/2018/2/layout/IconLabelList"/>
    <dgm:cxn modelId="{3496ADE2-82C2-4A12-B29C-166F65ADA9EA}" type="presParOf" srcId="{0D945371-60BD-4F8E-9967-3B56BE3307E8}" destId="{8BAA2519-E73D-4A4E-9BFD-60028BC9AD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 b="1">
              <a:latin typeface="+mn-lt"/>
            </a:rPr>
            <a:t>Content</a:t>
          </a:r>
          <a:endParaRPr lang="en-US" b="1">
            <a:latin typeface="+mn-lt"/>
          </a:endParaRP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5FCB7DF-D0D3-43D8-8FE5-E5FFDED626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+mn-lt"/>
            </a:rPr>
            <a:t>Prioritize sports and youth-oriented music programming</a:t>
          </a:r>
        </a:p>
      </dgm:t>
    </dgm:pt>
    <dgm:pt modelId="{5DD5E854-B70B-4927-93DD-9B930567F2D9}" type="parTrans" cxnId="{D8EBBD42-214D-4D3D-9A34-A5A6A40991CD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96543C5-093B-4437-B406-DBE4B882EA9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/>
            <a:t>Growth Opportunity</a:t>
          </a:r>
          <a:endParaRPr lang="en-US" b="1">
            <a:latin typeface="+mn-lt"/>
          </a:endParaRPr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485168C-07AD-4DE6-B17E-1E96E93777D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content to capture the under-represented "Senior" age group and "Morning" time slots.</a:t>
          </a:r>
          <a:endParaRPr lang="en-US">
            <a:latin typeface="+mn-lt"/>
          </a:endParaRPr>
        </a:p>
      </dgm:t>
    </dgm:pt>
    <dgm:pt modelId="{2EA2CE1F-978B-4B0A-92B2-CA23FBAEB8C0}" type="parTrans" cxnId="{B374803A-F1D8-4C12-8B03-25954CE7DDA9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A2BABAF-EDAA-4496-8316-FD6EA3643E8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ZA" b="1">
              <a:latin typeface="+mn-lt"/>
            </a:rPr>
            <a:t>Scheduling</a:t>
          </a:r>
          <a:endParaRPr lang="en-US" b="1">
            <a:latin typeface="+mn-lt"/>
          </a:endParaRP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BC1EDDD-C08B-4F9C-8453-9CEFCC2AF31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major premieres or high-value ads during the "Afternoon" bucket (12:00–17:00).</a:t>
          </a:r>
          <a:endParaRPr lang="en-US">
            <a:latin typeface="+mn-lt"/>
          </a:endParaRP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 sz="1800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8D4BA60-E88A-4375-9292-ABA59440EB41}" type="pres">
      <dgm:prSet presAssocID="{B6A966AA-C2D0-420D-89FC-1A1AB0AD4072}" presName="root" presStyleCnt="0">
        <dgm:presLayoutVars>
          <dgm:dir/>
          <dgm:resizeHandles val="exact"/>
        </dgm:presLayoutVars>
      </dgm:prSet>
      <dgm:spPr/>
    </dgm:pt>
    <dgm:pt modelId="{CEA2997F-7597-43A5-8953-6EA816A42591}" type="pres">
      <dgm:prSet presAssocID="{45D50368-372D-4F79-95B9-B27BD239F0F6}" presName="compNode" presStyleCnt="0"/>
      <dgm:spPr/>
    </dgm:pt>
    <dgm:pt modelId="{BB8F90C6-F13E-407A-ADC6-726FAAD95499}" type="pres">
      <dgm:prSet presAssocID="{45D50368-372D-4F79-95B9-B27BD239F0F6}" presName="bgRect" presStyleLbl="bgShp" presStyleIdx="0" presStyleCnt="3"/>
      <dgm:spPr/>
    </dgm:pt>
    <dgm:pt modelId="{A528E81C-153B-44C9-8C6A-E45C70C66CC5}" type="pres">
      <dgm:prSet presAssocID="{45D50368-372D-4F79-95B9-B27BD239F0F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22EE214C-8E5C-4CA4-85BF-532FD8A47BA3}" type="pres">
      <dgm:prSet presAssocID="{45D50368-372D-4F79-95B9-B27BD239F0F6}" presName="spaceRect" presStyleCnt="0"/>
      <dgm:spPr/>
    </dgm:pt>
    <dgm:pt modelId="{D7B06257-217F-410C-A4E7-0445B1CC4A7B}" type="pres">
      <dgm:prSet presAssocID="{45D50368-372D-4F79-95B9-B27BD239F0F6}" presName="parTx" presStyleLbl="revTx" presStyleIdx="0" presStyleCnt="6">
        <dgm:presLayoutVars>
          <dgm:chMax val="0"/>
          <dgm:chPref val="0"/>
        </dgm:presLayoutVars>
      </dgm:prSet>
      <dgm:spPr/>
    </dgm:pt>
    <dgm:pt modelId="{78ACA4E9-FBAA-4661-9B51-9808990DA207}" type="pres">
      <dgm:prSet presAssocID="{45D50368-372D-4F79-95B9-B27BD239F0F6}" presName="desTx" presStyleLbl="revTx" presStyleIdx="1" presStyleCnt="6">
        <dgm:presLayoutVars/>
      </dgm:prSet>
      <dgm:spPr/>
    </dgm:pt>
    <dgm:pt modelId="{890CDE68-A3FD-4DF6-A650-414132FEDB6E}" type="pres">
      <dgm:prSet presAssocID="{508ABF25-4B40-405C-9E88-248ED8B31B83}" presName="sibTrans" presStyleCnt="0"/>
      <dgm:spPr/>
    </dgm:pt>
    <dgm:pt modelId="{63795C09-EE90-42CE-8DFD-9EB2ED69055D}" type="pres">
      <dgm:prSet presAssocID="{196543C5-093B-4437-B406-DBE4B882EA97}" presName="compNode" presStyleCnt="0"/>
      <dgm:spPr/>
    </dgm:pt>
    <dgm:pt modelId="{EAF36C91-A98B-4E1C-B4EA-BD5DA3050257}" type="pres">
      <dgm:prSet presAssocID="{196543C5-093B-4437-B406-DBE4B882EA97}" presName="bgRect" presStyleLbl="bgShp" presStyleIdx="1" presStyleCnt="3"/>
      <dgm:spPr/>
    </dgm:pt>
    <dgm:pt modelId="{DB0586AC-55CA-43AB-839D-8118C95B6655}" type="pres">
      <dgm:prSet presAssocID="{196543C5-093B-4437-B406-DBE4B882EA9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7AC7356D-5EF8-4A79-9DD7-A452C7EAA943}" type="pres">
      <dgm:prSet presAssocID="{196543C5-093B-4437-B406-DBE4B882EA97}" presName="spaceRect" presStyleCnt="0"/>
      <dgm:spPr/>
    </dgm:pt>
    <dgm:pt modelId="{1466D04B-909B-4249-9BCA-677E761838E1}" type="pres">
      <dgm:prSet presAssocID="{196543C5-093B-4437-B406-DBE4B882EA97}" presName="parTx" presStyleLbl="revTx" presStyleIdx="2" presStyleCnt="6">
        <dgm:presLayoutVars>
          <dgm:chMax val="0"/>
          <dgm:chPref val="0"/>
        </dgm:presLayoutVars>
      </dgm:prSet>
      <dgm:spPr/>
    </dgm:pt>
    <dgm:pt modelId="{64C6BF2A-4E49-4DCA-8152-C83551791F4A}" type="pres">
      <dgm:prSet presAssocID="{196543C5-093B-4437-B406-DBE4B882EA97}" presName="desTx" presStyleLbl="revTx" presStyleIdx="3" presStyleCnt="6">
        <dgm:presLayoutVars/>
      </dgm:prSet>
      <dgm:spPr/>
    </dgm:pt>
    <dgm:pt modelId="{781B4472-8F22-4F29-BD26-B98112C10E0B}" type="pres">
      <dgm:prSet presAssocID="{F264F018-7FB9-43EC-B595-B986D351AD7B}" presName="sibTrans" presStyleCnt="0"/>
      <dgm:spPr/>
    </dgm:pt>
    <dgm:pt modelId="{ABED1766-2293-46E1-A6B9-E3A9326F870A}" type="pres">
      <dgm:prSet presAssocID="{CA2BABAF-EDAA-4496-8316-FD6EA3643E8F}" presName="compNode" presStyleCnt="0"/>
      <dgm:spPr/>
    </dgm:pt>
    <dgm:pt modelId="{C7B37CEF-4707-4D57-966E-0F65986E61BA}" type="pres">
      <dgm:prSet presAssocID="{CA2BABAF-EDAA-4496-8316-FD6EA3643E8F}" presName="bgRect" presStyleLbl="bgShp" presStyleIdx="2" presStyleCnt="3"/>
      <dgm:spPr/>
    </dgm:pt>
    <dgm:pt modelId="{279AF4EA-F1AE-4C82-A0CF-98B36456BA1D}" type="pres">
      <dgm:prSet presAssocID="{CA2BABAF-EDAA-4496-8316-FD6EA3643E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F932068-5959-4309-82D1-EDF3734E5FFB}" type="pres">
      <dgm:prSet presAssocID="{CA2BABAF-EDAA-4496-8316-FD6EA3643E8F}" presName="spaceRect" presStyleCnt="0"/>
      <dgm:spPr/>
    </dgm:pt>
    <dgm:pt modelId="{0226A340-AA40-4CFE-AB2D-385423ADD19B}" type="pres">
      <dgm:prSet presAssocID="{CA2BABAF-EDAA-4496-8316-FD6EA3643E8F}" presName="parTx" presStyleLbl="revTx" presStyleIdx="4" presStyleCnt="6">
        <dgm:presLayoutVars>
          <dgm:chMax val="0"/>
          <dgm:chPref val="0"/>
        </dgm:presLayoutVars>
      </dgm:prSet>
      <dgm:spPr/>
    </dgm:pt>
    <dgm:pt modelId="{CFFB422E-260B-472A-A87B-1D4F925EC5C1}" type="pres">
      <dgm:prSet presAssocID="{CA2BABAF-EDAA-4496-8316-FD6EA3643E8F}" presName="desTx" presStyleLbl="revTx" presStyleIdx="5" presStyleCnt="6">
        <dgm:presLayoutVars/>
      </dgm:prSet>
      <dgm:spPr/>
    </dgm:pt>
  </dgm:ptLst>
  <dgm:cxnLst>
    <dgm:cxn modelId="{B0D81805-9902-4FD6-9982-73385587D7AB}" type="presOf" srcId="{B6A966AA-C2D0-420D-89FC-1A1AB0AD4072}" destId="{D8D4BA60-E88A-4375-9292-ABA59440EB41}" srcOrd="0" destOrd="0" presId="urn:microsoft.com/office/officeart/2018/2/layout/IconVerticalSolidList"/>
    <dgm:cxn modelId="{F0C1D715-7D5B-41AC-82A9-A838A9871FB7}" type="presOf" srcId="{ABC1EDDD-C08B-4F9C-8453-9CEFCC2AF319}" destId="{CFFB422E-260B-472A-A87B-1D4F925EC5C1}" srcOrd="0" destOrd="0" presId="urn:microsoft.com/office/officeart/2018/2/layout/IconVerticalSolidList"/>
    <dgm:cxn modelId="{01A4802A-9620-4480-8E1E-E7F5BAA4B63C}" type="presOf" srcId="{CA2BABAF-EDAA-4496-8316-FD6EA3643E8F}" destId="{0226A340-AA40-4CFE-AB2D-385423ADD19B}" srcOrd="0" destOrd="0" presId="urn:microsoft.com/office/officeart/2018/2/layout/IconVerticalSolidList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2ACA4046-D6FB-4F4A-9EA2-4CA95EBF9FCE}" type="presOf" srcId="{15FCB7DF-D0D3-43D8-8FE5-E5FFDED6264E}" destId="{78ACA4E9-FBAA-4661-9B51-9808990DA207}" srcOrd="0" destOrd="0" presId="urn:microsoft.com/office/officeart/2018/2/layout/IconVerticalSolidList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8A88BE8C-F0C6-45B1-AE70-58289D1E45BB}" type="presOf" srcId="{196543C5-093B-4437-B406-DBE4B882EA97}" destId="{1466D04B-909B-4249-9BCA-677E761838E1}" srcOrd="0" destOrd="0" presId="urn:microsoft.com/office/officeart/2018/2/layout/IconVerticalSolidList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1C8CE1C5-70FB-46B3-AFC4-4428E12571FA}" type="presOf" srcId="{C485168C-07AD-4DE6-B17E-1E96E93777D7}" destId="{64C6BF2A-4E49-4DCA-8152-C83551791F4A}" srcOrd="0" destOrd="0" presId="urn:microsoft.com/office/officeart/2018/2/layout/IconVerticalSolidList"/>
    <dgm:cxn modelId="{3E304DD9-CB6F-47D3-9B83-77C1FC835424}" type="presOf" srcId="{45D50368-372D-4F79-95B9-B27BD239F0F6}" destId="{D7B06257-217F-410C-A4E7-0445B1CC4A7B}" srcOrd="0" destOrd="0" presId="urn:microsoft.com/office/officeart/2018/2/layout/IconVerticalSolidList"/>
    <dgm:cxn modelId="{7A55480C-30D9-469E-B1B0-12F0A0D03349}" type="presParOf" srcId="{D8D4BA60-E88A-4375-9292-ABA59440EB41}" destId="{CEA2997F-7597-43A5-8953-6EA816A42591}" srcOrd="0" destOrd="0" presId="urn:microsoft.com/office/officeart/2018/2/layout/IconVerticalSolidList"/>
    <dgm:cxn modelId="{284EF176-7F81-482E-A5E0-18656A910243}" type="presParOf" srcId="{CEA2997F-7597-43A5-8953-6EA816A42591}" destId="{BB8F90C6-F13E-407A-ADC6-726FAAD95499}" srcOrd="0" destOrd="0" presId="urn:microsoft.com/office/officeart/2018/2/layout/IconVerticalSolidList"/>
    <dgm:cxn modelId="{2E4130D3-1767-4CA8-A4AD-92BFF27C1A21}" type="presParOf" srcId="{CEA2997F-7597-43A5-8953-6EA816A42591}" destId="{A528E81C-153B-44C9-8C6A-E45C70C66CC5}" srcOrd="1" destOrd="0" presId="urn:microsoft.com/office/officeart/2018/2/layout/IconVerticalSolidList"/>
    <dgm:cxn modelId="{5D88FBA9-2630-4F5E-9D21-8AD3D08BE15A}" type="presParOf" srcId="{CEA2997F-7597-43A5-8953-6EA816A42591}" destId="{22EE214C-8E5C-4CA4-85BF-532FD8A47BA3}" srcOrd="2" destOrd="0" presId="urn:microsoft.com/office/officeart/2018/2/layout/IconVerticalSolidList"/>
    <dgm:cxn modelId="{1F88FA8A-6732-4744-A4AD-FF6975632B4A}" type="presParOf" srcId="{CEA2997F-7597-43A5-8953-6EA816A42591}" destId="{D7B06257-217F-410C-A4E7-0445B1CC4A7B}" srcOrd="3" destOrd="0" presId="urn:microsoft.com/office/officeart/2018/2/layout/IconVerticalSolidList"/>
    <dgm:cxn modelId="{43B3B15E-C1EC-4D30-9F2E-F58A1D5550CA}" type="presParOf" srcId="{CEA2997F-7597-43A5-8953-6EA816A42591}" destId="{78ACA4E9-FBAA-4661-9B51-9808990DA207}" srcOrd="4" destOrd="0" presId="urn:microsoft.com/office/officeart/2018/2/layout/IconVerticalSolidList"/>
    <dgm:cxn modelId="{FAD0981A-60E4-4FED-A027-107CAABB1474}" type="presParOf" srcId="{D8D4BA60-E88A-4375-9292-ABA59440EB41}" destId="{890CDE68-A3FD-4DF6-A650-414132FEDB6E}" srcOrd="1" destOrd="0" presId="urn:microsoft.com/office/officeart/2018/2/layout/IconVerticalSolidList"/>
    <dgm:cxn modelId="{B6B9DA06-D91F-4C18-A878-3008EB86BAF1}" type="presParOf" srcId="{D8D4BA60-E88A-4375-9292-ABA59440EB41}" destId="{63795C09-EE90-42CE-8DFD-9EB2ED69055D}" srcOrd="2" destOrd="0" presId="urn:microsoft.com/office/officeart/2018/2/layout/IconVerticalSolidList"/>
    <dgm:cxn modelId="{04B2FA02-8086-4019-AAE8-41AB465785B5}" type="presParOf" srcId="{63795C09-EE90-42CE-8DFD-9EB2ED69055D}" destId="{EAF36C91-A98B-4E1C-B4EA-BD5DA3050257}" srcOrd="0" destOrd="0" presId="urn:microsoft.com/office/officeart/2018/2/layout/IconVerticalSolidList"/>
    <dgm:cxn modelId="{02E71F4D-72FC-4196-828F-5FE3F90EAE4E}" type="presParOf" srcId="{63795C09-EE90-42CE-8DFD-9EB2ED69055D}" destId="{DB0586AC-55CA-43AB-839D-8118C95B6655}" srcOrd="1" destOrd="0" presId="urn:microsoft.com/office/officeart/2018/2/layout/IconVerticalSolidList"/>
    <dgm:cxn modelId="{9CBBEA56-3E9A-43A9-B2EB-F77AC94FC8C0}" type="presParOf" srcId="{63795C09-EE90-42CE-8DFD-9EB2ED69055D}" destId="{7AC7356D-5EF8-4A79-9DD7-A452C7EAA943}" srcOrd="2" destOrd="0" presId="urn:microsoft.com/office/officeart/2018/2/layout/IconVerticalSolidList"/>
    <dgm:cxn modelId="{91F255E8-0D5D-451D-BF36-941D336FD27E}" type="presParOf" srcId="{63795C09-EE90-42CE-8DFD-9EB2ED69055D}" destId="{1466D04B-909B-4249-9BCA-677E761838E1}" srcOrd="3" destOrd="0" presId="urn:microsoft.com/office/officeart/2018/2/layout/IconVerticalSolidList"/>
    <dgm:cxn modelId="{9EB104E5-7CC5-4E76-8A0D-91947599611A}" type="presParOf" srcId="{63795C09-EE90-42CE-8DFD-9EB2ED69055D}" destId="{64C6BF2A-4E49-4DCA-8152-C83551791F4A}" srcOrd="4" destOrd="0" presId="urn:microsoft.com/office/officeart/2018/2/layout/IconVerticalSolidList"/>
    <dgm:cxn modelId="{A07C4B8B-3555-4C41-A375-A496D20C6BD3}" type="presParOf" srcId="{D8D4BA60-E88A-4375-9292-ABA59440EB41}" destId="{781B4472-8F22-4F29-BD26-B98112C10E0B}" srcOrd="3" destOrd="0" presId="urn:microsoft.com/office/officeart/2018/2/layout/IconVerticalSolidList"/>
    <dgm:cxn modelId="{5EDFE237-9F09-44CF-9D74-B8819CA0C894}" type="presParOf" srcId="{D8D4BA60-E88A-4375-9292-ABA59440EB41}" destId="{ABED1766-2293-46E1-A6B9-E3A9326F870A}" srcOrd="4" destOrd="0" presId="urn:microsoft.com/office/officeart/2018/2/layout/IconVerticalSolidList"/>
    <dgm:cxn modelId="{67D0AF15-C279-4483-B4FB-04A5293C8348}" type="presParOf" srcId="{ABED1766-2293-46E1-A6B9-E3A9326F870A}" destId="{C7B37CEF-4707-4D57-966E-0F65986E61BA}" srcOrd="0" destOrd="0" presId="urn:microsoft.com/office/officeart/2018/2/layout/IconVerticalSolidList"/>
    <dgm:cxn modelId="{46EB590B-EC88-4F37-9677-1E057E44539B}" type="presParOf" srcId="{ABED1766-2293-46E1-A6B9-E3A9326F870A}" destId="{279AF4EA-F1AE-4C82-A0CF-98B36456BA1D}" srcOrd="1" destOrd="0" presId="urn:microsoft.com/office/officeart/2018/2/layout/IconVerticalSolidList"/>
    <dgm:cxn modelId="{E3B01763-B347-4067-A121-CA6710DCF873}" type="presParOf" srcId="{ABED1766-2293-46E1-A6B9-E3A9326F870A}" destId="{9F932068-5959-4309-82D1-EDF3734E5FFB}" srcOrd="2" destOrd="0" presId="urn:microsoft.com/office/officeart/2018/2/layout/IconVerticalSolidList"/>
    <dgm:cxn modelId="{B5156354-B6AA-4571-BF7D-A1F287FCB436}" type="presParOf" srcId="{ABED1766-2293-46E1-A6B9-E3A9326F870A}" destId="{0226A340-AA40-4CFE-AB2D-385423ADD19B}" srcOrd="3" destOrd="0" presId="urn:microsoft.com/office/officeart/2018/2/layout/IconVerticalSolidList"/>
    <dgm:cxn modelId="{E1219C96-DA6E-4924-A54E-CB4D94F64203}" type="presParOf" srcId="{ABED1766-2293-46E1-A6B9-E3A9326F870A}" destId="{CFFB422E-260B-472A-A87B-1D4F925EC5C1}" srcOrd="4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ED0E5-A4EA-4F71-855F-132862C612C5}">
      <dsp:nvSpPr>
        <dsp:cNvPr id="0" name=""/>
        <dsp:cNvSpPr/>
      </dsp:nvSpPr>
      <dsp:spPr>
        <a:xfrm>
          <a:off x="0" y="199926"/>
          <a:ext cx="4958965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Market Alignment: Highlight that the content is resonating most strongly with the Black demographic. This is a key insight for advertisers or sponsors looking to reach this specific market.</a:t>
          </a:r>
        </a:p>
      </dsp:txBody>
      <dsp:txXfrm>
        <a:off x="55744" y="255670"/>
        <a:ext cx="4847477" cy="1030432"/>
      </dsp:txXfrm>
    </dsp:sp>
    <dsp:sp modelId="{82037F8C-BC58-4E0D-81E6-58EDAB7D373D}">
      <dsp:nvSpPr>
        <dsp:cNvPr id="0" name=""/>
        <dsp:cNvSpPr/>
      </dsp:nvSpPr>
      <dsp:spPr>
        <a:xfrm>
          <a:off x="0" y="1387926"/>
          <a:ext cx="4958965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Relative Balance: Note that the Coloured, Indian/Asian, and White segments are relatively balanced (ranging between 12%–16%), showing the content has a broad, multi-cultural appeal.</a:t>
          </a:r>
        </a:p>
      </dsp:txBody>
      <dsp:txXfrm>
        <a:off x="55744" y="1443670"/>
        <a:ext cx="4847477" cy="1030432"/>
      </dsp:txXfrm>
    </dsp:sp>
    <dsp:sp modelId="{ED7718D0-A86B-423A-93E0-7165FDBF5EF3}">
      <dsp:nvSpPr>
        <dsp:cNvPr id="0" name=""/>
        <dsp:cNvSpPr/>
      </dsp:nvSpPr>
      <dsp:spPr>
        <a:xfrm>
          <a:off x="0" y="2575926"/>
          <a:ext cx="4958965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Actionable Insight: If the goal is growth, you might discuss whether to lean further into the majority audience's preferences or create targeted campaigns to increase the share of the 12%–16% segments..</a:t>
          </a:r>
        </a:p>
      </dsp:txBody>
      <dsp:txXfrm>
        <a:off x="55744" y="2631670"/>
        <a:ext cx="4847477" cy="1030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3126A-A7B8-424F-A7B3-60B8A2D0AD72}">
      <dsp:nvSpPr>
        <dsp:cNvPr id="0" name=""/>
        <dsp:cNvSpPr/>
      </dsp:nvSpPr>
      <dsp:spPr>
        <a:xfrm>
          <a:off x="425573" y="1005386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B392A-C238-466A-8583-AB04E10DDD05}">
      <dsp:nvSpPr>
        <dsp:cNvPr id="0" name=""/>
        <dsp:cNvSpPr/>
      </dsp:nvSpPr>
      <dsp:spPr>
        <a:xfrm>
          <a:off x="2599" y="1948610"/>
          <a:ext cx="1538085" cy="73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Peak Viewing: Usage climbs steadily from 07:00 and plateaus between 12:00 and 20:00, with the absolute peak occurring at 17:00 (648 views)</a:t>
          </a:r>
        </a:p>
      </dsp:txBody>
      <dsp:txXfrm>
        <a:off x="2599" y="1948610"/>
        <a:ext cx="1538085" cy="730590"/>
      </dsp:txXfrm>
    </dsp:sp>
    <dsp:sp modelId="{DBCE4E1C-3377-456F-A2B7-FD0477AE817D}">
      <dsp:nvSpPr>
        <dsp:cNvPr id="0" name=""/>
        <dsp:cNvSpPr/>
      </dsp:nvSpPr>
      <dsp:spPr>
        <a:xfrm>
          <a:off x="2232824" y="1005386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EDEA9-775A-4E06-BA88-012C51C443DB}">
      <dsp:nvSpPr>
        <dsp:cNvPr id="0" name=""/>
        <dsp:cNvSpPr/>
      </dsp:nvSpPr>
      <dsp:spPr>
        <a:xfrm>
          <a:off x="1809850" y="1948610"/>
          <a:ext cx="1538085" cy="73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"Dead Zone": Consumption is lowest between 02:00 and 05:00 AM (hitting a low of 49 views at 04:00).</a:t>
          </a:r>
        </a:p>
      </dsp:txBody>
      <dsp:txXfrm>
        <a:off x="1809850" y="1948610"/>
        <a:ext cx="1538085" cy="730590"/>
      </dsp:txXfrm>
    </dsp:sp>
    <dsp:sp modelId="{D90FE1BD-D5E0-4D8F-A426-D4BF482B2578}">
      <dsp:nvSpPr>
        <dsp:cNvPr id="0" name=""/>
        <dsp:cNvSpPr/>
      </dsp:nvSpPr>
      <dsp:spPr>
        <a:xfrm>
          <a:off x="4040075" y="1005386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A2519-E73D-4A4E-9BFD-60028BC9AD77}">
      <dsp:nvSpPr>
        <dsp:cNvPr id="0" name=""/>
        <dsp:cNvSpPr/>
      </dsp:nvSpPr>
      <dsp:spPr>
        <a:xfrm>
          <a:off x="3617101" y="1948610"/>
          <a:ext cx="1538085" cy="73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Prime Buckets: Afternoon is the most active time bucket (3,734 views), followed by Evening.</a:t>
          </a:r>
        </a:p>
      </dsp:txBody>
      <dsp:txXfrm>
        <a:off x="3617101" y="1948610"/>
        <a:ext cx="1538085" cy="7305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F90C6-F13E-407A-ADC6-726FAAD95499}">
      <dsp:nvSpPr>
        <dsp:cNvPr id="0" name=""/>
        <dsp:cNvSpPr/>
      </dsp:nvSpPr>
      <dsp:spPr>
        <a:xfrm>
          <a:off x="0" y="2655"/>
          <a:ext cx="5181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8E81C-153B-44C9-8C6A-E45C70C66CC5}">
      <dsp:nvSpPr>
        <dsp:cNvPr id="0" name=""/>
        <dsp:cNvSpPr/>
      </dsp:nvSpPr>
      <dsp:spPr>
        <a:xfrm>
          <a:off x="375620" y="282042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06257-217F-410C-A4E7-0445B1CC4A7B}">
      <dsp:nvSpPr>
        <dsp:cNvPr id="0" name=""/>
        <dsp:cNvSpPr/>
      </dsp:nvSpPr>
      <dsp:spPr>
        <a:xfrm>
          <a:off x="1434189" y="2655"/>
          <a:ext cx="23317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>
              <a:latin typeface="+mn-lt"/>
            </a:rPr>
            <a:t>Content</a:t>
          </a:r>
          <a:endParaRPr lang="en-US" sz="2500" b="1" kern="1200">
            <a:latin typeface="+mn-lt"/>
          </a:endParaRPr>
        </a:p>
      </dsp:txBody>
      <dsp:txXfrm>
        <a:off x="1434189" y="2655"/>
        <a:ext cx="2331720" cy="1241722"/>
      </dsp:txXfrm>
    </dsp:sp>
    <dsp:sp modelId="{78ACA4E9-FBAA-4661-9B51-9808990DA207}">
      <dsp:nvSpPr>
        <dsp:cNvPr id="0" name=""/>
        <dsp:cNvSpPr/>
      </dsp:nvSpPr>
      <dsp:spPr>
        <a:xfrm>
          <a:off x="3765909" y="2655"/>
          <a:ext cx="14142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+mn-lt"/>
            </a:rPr>
            <a:t>Prioritize sports and youth-oriented music programming</a:t>
          </a:r>
        </a:p>
      </dsp:txBody>
      <dsp:txXfrm>
        <a:off x="3765909" y="2655"/>
        <a:ext cx="1414289" cy="1241722"/>
      </dsp:txXfrm>
    </dsp:sp>
    <dsp:sp modelId="{EAF36C91-A98B-4E1C-B4EA-BD5DA3050257}">
      <dsp:nvSpPr>
        <dsp:cNvPr id="0" name=""/>
        <dsp:cNvSpPr/>
      </dsp:nvSpPr>
      <dsp:spPr>
        <a:xfrm>
          <a:off x="0" y="1554807"/>
          <a:ext cx="5181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586AC-55CA-43AB-839D-8118C95B6655}">
      <dsp:nvSpPr>
        <dsp:cNvPr id="0" name=""/>
        <dsp:cNvSpPr/>
      </dsp:nvSpPr>
      <dsp:spPr>
        <a:xfrm>
          <a:off x="375620" y="1834195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6D04B-909B-4249-9BCA-677E761838E1}">
      <dsp:nvSpPr>
        <dsp:cNvPr id="0" name=""/>
        <dsp:cNvSpPr/>
      </dsp:nvSpPr>
      <dsp:spPr>
        <a:xfrm>
          <a:off x="1434189" y="1554807"/>
          <a:ext cx="23317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Growth Opportunity</a:t>
          </a:r>
          <a:endParaRPr lang="en-US" sz="2500" b="1" kern="1200">
            <a:latin typeface="+mn-lt"/>
          </a:endParaRPr>
        </a:p>
      </dsp:txBody>
      <dsp:txXfrm>
        <a:off x="1434189" y="1554807"/>
        <a:ext cx="2331720" cy="1241722"/>
      </dsp:txXfrm>
    </dsp:sp>
    <dsp:sp modelId="{64C6BF2A-4E49-4DCA-8152-C83551791F4A}">
      <dsp:nvSpPr>
        <dsp:cNvPr id="0" name=""/>
        <dsp:cNvSpPr/>
      </dsp:nvSpPr>
      <dsp:spPr>
        <a:xfrm>
          <a:off x="3765909" y="1554807"/>
          <a:ext cx="14142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 content to capture the under-represented "Senior" age group and "Morning" time slots.</a:t>
          </a:r>
          <a:endParaRPr lang="en-US" sz="1100" kern="1200">
            <a:latin typeface="+mn-lt"/>
          </a:endParaRPr>
        </a:p>
      </dsp:txBody>
      <dsp:txXfrm>
        <a:off x="3765909" y="1554807"/>
        <a:ext cx="1414289" cy="1241722"/>
      </dsp:txXfrm>
    </dsp:sp>
    <dsp:sp modelId="{C7B37CEF-4707-4D57-966E-0F65986E61BA}">
      <dsp:nvSpPr>
        <dsp:cNvPr id="0" name=""/>
        <dsp:cNvSpPr/>
      </dsp:nvSpPr>
      <dsp:spPr>
        <a:xfrm>
          <a:off x="0" y="3106960"/>
          <a:ext cx="5181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AF4EA-F1AE-4C82-A0CF-98B36456BA1D}">
      <dsp:nvSpPr>
        <dsp:cNvPr id="0" name=""/>
        <dsp:cNvSpPr/>
      </dsp:nvSpPr>
      <dsp:spPr>
        <a:xfrm>
          <a:off x="375620" y="3386348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6A340-AA40-4CFE-AB2D-385423ADD19B}">
      <dsp:nvSpPr>
        <dsp:cNvPr id="0" name=""/>
        <dsp:cNvSpPr/>
      </dsp:nvSpPr>
      <dsp:spPr>
        <a:xfrm>
          <a:off x="1434189" y="3106960"/>
          <a:ext cx="23317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>
              <a:latin typeface="+mn-lt"/>
            </a:rPr>
            <a:t>Scheduling</a:t>
          </a:r>
          <a:endParaRPr lang="en-US" sz="2500" b="1" kern="1200">
            <a:latin typeface="+mn-lt"/>
          </a:endParaRPr>
        </a:p>
      </dsp:txBody>
      <dsp:txXfrm>
        <a:off x="1434189" y="3106960"/>
        <a:ext cx="2331720" cy="1241722"/>
      </dsp:txXfrm>
    </dsp:sp>
    <dsp:sp modelId="{CFFB422E-260B-472A-A87B-1D4F925EC5C1}">
      <dsp:nvSpPr>
        <dsp:cNvPr id="0" name=""/>
        <dsp:cNvSpPr/>
      </dsp:nvSpPr>
      <dsp:spPr>
        <a:xfrm>
          <a:off x="3765909" y="3106960"/>
          <a:ext cx="14142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 major premieres or high-value ads during the "Afternoon" bucket (12:00–17:00).</a:t>
          </a:r>
          <a:endParaRPr lang="en-US" sz="1100" kern="1200">
            <a:latin typeface="+mn-lt"/>
          </a:endParaRPr>
        </a:p>
      </dsp:txBody>
      <dsp:txXfrm>
        <a:off x="3765909" y="3106960"/>
        <a:ext cx="1414289" cy="1241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340-CA88-40FE-8D9F-FB95A67E2AC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7120-FABF-42CA-85D1-839480B5B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BC4F2-6A87-450D-AD53-D2188421BC53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B2649-7BD8-4005-A99E-30D13769A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B2649-7BD8-4005-A99E-30D13769A8B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95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B2649-7BD8-4005-A99E-30D13769A8B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5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2F16-4896-B46B-9C1C-E9F4A331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58A00-D593-8E9C-1411-1F4D1DC31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79294-37BA-8248-162C-9FF4E179A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71C-D74C-73F6-39E9-69BAE921A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B2649-7BD8-4005-A99E-30D13769A8B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9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B2649-7BD8-4005-A99E-30D13769A8B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9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0246-0392-D68B-CF72-D1E3BC93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41766-9FDC-CEE9-9004-8E8C685EB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07C2-1C61-31FB-0B28-2170A206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FDB03-D4B1-DC02-E2D9-E1CB8328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0EF4F-5FCE-6733-DBEC-B48BD5B5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734622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EEBF-EEEC-DFBB-40E6-AF403895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DBAD-FA50-D9D2-3675-7E8CE819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78F0-361E-C3B9-EEEA-01C1C22A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427D-03DD-1828-CFF2-64649675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C1EB8-A391-56D6-D67D-56579EF2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019749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28A1-8525-2B54-0A76-C1FC7507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005D7-A5C0-5F0D-F646-3B674CE85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966D6-42F1-16A7-9778-72584355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3752A-6042-D60B-3CCE-8F159D06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62212-72BB-B9CB-E427-EE2AC57F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57766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8904-909C-7615-88C4-7E61005D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4C13-8446-4637-C8B2-B263DECCF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82B52-E307-E4AC-F8AF-60B02686F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F80E-9F35-E7A8-47E8-C39E6A82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02543-2688-7D8F-46B0-C507E673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8A890-523A-AF8D-5C18-03F8EA37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6645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B0EA-13AF-FFC6-463B-1DC69952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4700-2992-DC9D-83D4-1E8AE3482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4701A-AE11-7C4C-9924-C62D653D9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B3E9C-371A-09A6-C53D-8A4D829B9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3ACFF-6938-4B29-80BB-C4654A8E0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96367-FB9F-5EDF-7CB2-6B58572F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A41E7-0A1A-A217-5278-3BDC8565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A2293-DEA9-2289-3A90-A0B9C247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52180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4DDC9-AA03-259A-8E60-1A2AB630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B2D34-E77B-E557-67B0-BFE7C207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DEFB6-F46E-BDF8-CB90-1BBDA6A2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B918A-1EF4-D15A-3A49-917C2EB0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96660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1BA79-80A6-6414-A3FA-866735D2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FA723-2989-E77E-EF68-197BE2E7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1A9ED-60EA-8470-0B57-F1BF1142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5832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CF9A-1CFD-BA64-3D67-B1482EE2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5A7F-9BF2-75E8-2117-4AE1A28A2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F6159-D153-B366-3675-663C2700D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4B8BE-726F-542A-AEC9-3EBB169C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5069-FAA2-4787-0738-BE77F931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9475B-91AA-6494-09EC-E4BB8227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79128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D8F8-FBA3-A2D7-0BBF-B922848E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C803E-F517-A8D1-2AC8-7BECE9526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BAB6C-7A85-796B-9811-C6C009770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E359-E1FA-A751-DE0C-3A954620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90957-910E-AABB-012F-81D4A8E5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5C875-611B-8810-36DE-C58500B7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444079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CDDF-4FD6-EE8E-1F93-0266060E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0DBC6-09E2-3A69-2503-26FD76CBF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EE6A5-FD64-64D4-6FC9-CB19C8CAA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28C8-1D53-B74B-6CE1-9475D8B1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C0816-977B-9EA0-F3FB-D492AC9C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56845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F79BF-E85A-9501-8012-A03F05D31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060AE-6E7A-7046-6A16-3B5C08E14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0559-5BC9-7039-E1AF-531A6811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A2E0C-E8CF-54F5-D326-E650EC06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E72F6-AA60-FE91-EBAA-B61E125C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115367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with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pPr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732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3FFA1-F0AE-DFF4-B013-E635479FD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8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pPr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883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56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E0814-6B26-FB38-93C1-BA5A000B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81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3A25B7-A924-4C03-8022-000A9EA88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A68D8-CB71-4A41-B029-626BD6912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9524"/>
            <a:ext cx="12192000" cy="6105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rgbClr val="FCEA37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9ECFC55D-2CEE-47A4-9ACA-D6C78D236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" y="-9523"/>
            <a:ext cx="11430001" cy="6105523"/>
          </a:xfrm>
          <a:custGeom>
            <a:avLst/>
            <a:gdLst>
              <a:gd name="connsiteX0" fmla="*/ 0 w 11430001"/>
              <a:gd name="connsiteY0" fmla="*/ 0 h 6105523"/>
              <a:gd name="connsiteX1" fmla="*/ 7874003 w 11430001"/>
              <a:gd name="connsiteY1" fmla="*/ 0 h 6105523"/>
              <a:gd name="connsiteX2" fmla="*/ 7874003 w 11430001"/>
              <a:gd name="connsiteY2" fmla="*/ 771522 h 6105523"/>
              <a:gd name="connsiteX3" fmla="*/ 11430001 w 11430001"/>
              <a:gd name="connsiteY3" fmla="*/ 771522 h 6105523"/>
              <a:gd name="connsiteX4" fmla="*/ 11430001 w 11430001"/>
              <a:gd name="connsiteY4" fmla="*/ 6105523 h 6105523"/>
              <a:gd name="connsiteX5" fmla="*/ 7874003 w 11430001"/>
              <a:gd name="connsiteY5" fmla="*/ 6105523 h 6105523"/>
              <a:gd name="connsiteX6" fmla="*/ 5334002 w 11430001"/>
              <a:gd name="connsiteY6" fmla="*/ 6105523 h 6105523"/>
              <a:gd name="connsiteX7" fmla="*/ 0 w 11430001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1" h="6105523">
                <a:moveTo>
                  <a:pt x="0" y="0"/>
                </a:moveTo>
                <a:lnTo>
                  <a:pt x="7874003" y="0"/>
                </a:lnTo>
                <a:lnTo>
                  <a:pt x="7874003" y="771522"/>
                </a:lnTo>
                <a:lnTo>
                  <a:pt x="11430001" y="771522"/>
                </a:lnTo>
                <a:lnTo>
                  <a:pt x="11430001" y="6105523"/>
                </a:lnTo>
                <a:lnTo>
                  <a:pt x="7874003" y="6105523"/>
                </a:lnTo>
                <a:lnTo>
                  <a:pt x="5334002" y="6105523"/>
                </a:lnTo>
                <a:lnTo>
                  <a:pt x="0" y="6105523"/>
                </a:lnTo>
                <a:close/>
              </a:path>
            </a:pathLst>
          </a:custGeom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00406F9C-B330-46B3-A03C-15F85CD7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4FC9061-555D-4FE2-ABE9-07A195BC0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179E90-1F70-6673-6D11-A0CDD3C3B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anchor="b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3747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6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BF65B-7AC2-93F7-AEBE-CEEC6A87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6182B-6221-41B6-2F2E-97F36E13D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0D3A-A2D3-F200-819A-EEC72188C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B0D2-DF5B-0C9D-55FC-E59554B79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4E1D-9A6E-7FE2-5FEF-F53892988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492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100" r:id="rId16"/>
    <p:sldLayoutId id="2147484103" r:id="rId17"/>
    <p:sldLayoutId id="2147483740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6991D1-444A-535F-FEE3-EB4604B0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Bright TV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D06A00-E87D-1972-5719-58EEAC972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Viewership Performance &amp; Demographic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F282F1-6A9B-4AEC-B229-20A3E6BF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9054" y="5023230"/>
            <a:ext cx="4114753" cy="496128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Created by: Belinda  Madzhie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90FF473-CAB6-A07B-C502-34D23D146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65381" y="3180936"/>
            <a:ext cx="3828425" cy="49612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Data-Driven Insights for Content Strategy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A6E579-ADCF-DC43-633F-4A1CA10101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53" r="9152" b="2"/>
          <a:stretch>
            <a:fillRect/>
          </a:stretch>
        </p:blipFill>
        <p:spPr>
          <a:xfrm>
            <a:off x="6677025" y="1338642"/>
            <a:ext cx="5183188" cy="36845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3268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764D8E-8D44-4B0E-A17E-DF05833A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Channels Performance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E30C49B-3963-5357-7913-37FEE1C7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kern="1200" cap="all" spc="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Sports is a winner 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5E6584B-6974-A6C7-7725-8D24DB205E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9307" r="9307"/>
          <a:stretch/>
        </p:blipFill>
        <p:spPr>
          <a:xfrm>
            <a:off x="4502428" y="576824"/>
            <a:ext cx="7225748" cy="5704352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428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3C99-3405-401F-845E-319BF903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Geographic Distribution (Province Views)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8C71850-2415-3A61-92A8-AE037E324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Gauteng is the primary driver of viewership with 3,654 views, nearly double the next highest province</a:t>
            </a:r>
          </a:p>
          <a:p>
            <a:r>
              <a:rPr lang="en-US"/>
              <a:t>Western Cape (1,845) and Kwazulu Natal (1,001) follow as significant markets.</a:t>
            </a:r>
          </a:p>
          <a:p>
            <a:r>
              <a:rPr lang="en-US"/>
              <a:t>Lower engagement is seen in the Northern Cape (230) and Free State (292).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2C66DD2-BD5C-4F4A-757A-BC018F86C1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636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928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764D8E-8D44-4B0E-A17E-DF05833A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Audience Demographics (Age &amp; Race)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8E552-09C6-7C57-DA0F-B21550536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60689"/>
            <a:ext cx="6894576" cy="3654125"/>
          </a:xfrm>
          <a:prstGeom prst="rect">
            <a:avLst/>
          </a:prstGeom>
          <a:noFill/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C58AADE-ED94-117F-D811-C4F477C6A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500" dirty="0"/>
              <a:t>Age: The audience is heavily skewed toward YOUTH (2,697 views), followed by Adults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 dirty="0"/>
              <a:t>Seniors represent the smallest segment (113).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 dirty="0"/>
              <a:t>Race: The highest viewership comes from the "black" demographic category (4,331), significantly outpacing other segments.</a:t>
            </a:r>
          </a:p>
        </p:txBody>
      </p:sp>
    </p:spTree>
    <p:extLst>
      <p:ext uri="{BB962C8B-B14F-4D97-AF65-F5344CB8AC3E}">
        <p14:creationId xmlns:p14="http://schemas.microsoft.com/office/powerpoint/2010/main" val="70496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BE70-F52C-4AA6-B313-54D8B71C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D2D3133-75E9-F682-635F-6A4998DF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Audience Composition by Race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61A405-AEE9-DC66-67DE-268F55814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367" y="2380909"/>
            <a:ext cx="4788505" cy="3363925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3" name="Subtitle 2">
            <a:extLst>
              <a:ext uri="{FF2B5EF4-FFF2-40B4-BE49-F238E27FC236}">
                <a16:creationId xmlns:a16="http://schemas.microsoft.com/office/drawing/2014/main" id="{A51468A1-3A10-D30D-CC73-85C881DAFEBF}"/>
              </a:ext>
            </a:extLst>
          </p:cNvPr>
          <p:cNvGraphicFramePr/>
          <p:nvPr/>
        </p:nvGraphicFramePr>
        <p:xfrm>
          <a:off x="1137034" y="2198362"/>
          <a:ext cx="4958966" cy="3917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5282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893E-F8B1-EF3E-89B9-F5F1D65B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Viewership Trends by Time of Day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1D7A4BE-6629-0902-1082-A3BB8B1CA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Line Graph showing "Hourly Views" (0-23).</a:t>
            </a:r>
          </a:p>
        </p:txBody>
      </p:sp>
      <p:graphicFrame>
        <p:nvGraphicFramePr>
          <p:cNvPr id="20" name="Content Placeholder 9">
            <a:extLst>
              <a:ext uri="{FF2B5EF4-FFF2-40B4-BE49-F238E27FC236}">
                <a16:creationId xmlns:a16="http://schemas.microsoft.com/office/drawing/2014/main" id="{50A890A8-5358-DCD3-690E-5BBEDAF6DDA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FE6BAF1-54EA-E310-5A47-F204CF650C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6868405" y="1690688"/>
            <a:ext cx="4630125" cy="400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9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B0A5-83E1-6923-9A19-E9CE76C4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>
                <a:effectLst/>
              </a:rPr>
              <a:t>Strategic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AFC1B-63F1-9618-C761-E3F0AA578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b="1" dirty="0"/>
              <a:t>Regional Focus:</a:t>
            </a:r>
            <a:r>
              <a:rPr lang="en-US" dirty="0"/>
              <a:t> Increase localized marketing efforts in Gauteng and Western Cape to maintain the stronghold.</a:t>
            </a:r>
          </a:p>
        </p:txBody>
      </p:sp>
      <p:graphicFrame>
        <p:nvGraphicFramePr>
          <p:cNvPr id="5" name="Content Placeholder 4" descr="Basic timeline SmartArt">
            <a:extLst>
              <a:ext uri="{FF2B5EF4-FFF2-40B4-BE49-F238E27FC236}">
                <a16:creationId xmlns:a16="http://schemas.microsoft.com/office/drawing/2014/main" id="{A6124125-C51D-2499-4F8C-1A077642ECF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3555491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695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2480-21DF-4547-B928-8E2BEDC4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anchor="ctr">
            <a:normAutofit/>
          </a:bodyPr>
          <a:lstStyle/>
          <a:p>
            <a:r>
              <a:rPr lang="en-US" dirty="0" err="1"/>
              <a:t>Q&amp;AText</a:t>
            </a:r>
            <a:r>
              <a:rPr lang="en-US" dirty="0"/>
              <a:t>: Thank you! Any questions?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F54707-CCA0-AB99-CE3F-41B1F935FD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75" r="20775"/>
          <a:stretch/>
        </p:blipFill>
        <p:spPr>
          <a:xfrm>
            <a:off x="758952" y="883976"/>
            <a:ext cx="4562856" cy="5147093"/>
          </a:xfrm>
          <a:prstGeom prst="rect">
            <a:avLst/>
          </a:prstGeom>
          <a:noFill/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332A6CBB-268A-3623-5393-0CE11913C5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Belinda Madzhie </a:t>
            </a:r>
          </a:p>
          <a:p>
            <a:r>
              <a:rPr lang="en-US" dirty="0"/>
              <a:t>madzhielinda@gmail.com</a:t>
            </a:r>
          </a:p>
        </p:txBody>
      </p:sp>
    </p:spTree>
    <p:extLst>
      <p:ext uri="{BB962C8B-B14F-4D97-AF65-F5344CB8AC3E}">
        <p14:creationId xmlns:p14="http://schemas.microsoft.com/office/powerpoint/2010/main" val="387289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Props1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406</Words>
  <Application>Microsoft Office PowerPoint</Application>
  <PresentationFormat>Widescreen</PresentationFormat>
  <Paragraphs>39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Bright TV </vt:lpstr>
      <vt:lpstr>Top Channels Performance</vt:lpstr>
      <vt:lpstr>Geographic Distribution (Province Views)</vt:lpstr>
      <vt:lpstr>Audience Demographics (Age &amp; Race)</vt:lpstr>
      <vt:lpstr>Audience Composition by Race</vt:lpstr>
      <vt:lpstr>Viewership Trends by Time of Day</vt:lpstr>
      <vt:lpstr>Strategic Recommendations</vt:lpstr>
      <vt:lpstr>Q&amp;AText: 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Bella M</dc:creator>
  <cp:lastModifiedBy>Bella M</cp:lastModifiedBy>
  <cp:revision>3</cp:revision>
  <dcterms:created xsi:type="dcterms:W3CDTF">2026-04-14T19:40:54Z</dcterms:created>
  <dcterms:modified xsi:type="dcterms:W3CDTF">2026-04-14T20:41:46Z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